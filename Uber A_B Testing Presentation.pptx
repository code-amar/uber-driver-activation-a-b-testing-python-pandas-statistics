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A81AA1-0F27-43A5-8994-2A5A6A49A21A}">
  <a:tblStyle styleId="{5CA81AA1-0F27-43A5-8994-2A5A6A49A2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21ecd10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21ecd1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21ecd10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21ecd10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b21ecd10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b21ecd10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b21ecd10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b21ecd10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21ecd10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21ecd10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21ecd10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21ecd10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21ecd10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b21ecd10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21ecd10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21ecd10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b21ecd10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b21ecd10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21ecd10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b21ecd10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b21ecd10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b21ecd10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b21ecd10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b21ecd10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21ecd10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21ecd10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93225"/>
            <a:ext cx="85206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204"/>
              <a:t>Uber A/B Testing Project Presentation </a:t>
            </a:r>
            <a:endParaRPr b="1" sz="920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Uber-Logo.w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375" y="200625"/>
            <a:ext cx="3883587" cy="258842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27275" y="4357200"/>
            <a:ext cx="4564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</a:rPr>
              <a:t>By : Amar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</a:rPr>
              <a:t>Professional Data Science and AI </a:t>
            </a:r>
            <a:r>
              <a:rPr b="1" lang="en-GB" sz="1200">
                <a:solidFill>
                  <a:schemeClr val="dk2"/>
                </a:solidFill>
              </a:rPr>
              <a:t>Course</a:t>
            </a:r>
            <a:r>
              <a:rPr b="1" lang="en-GB" sz="1200">
                <a:solidFill>
                  <a:schemeClr val="dk2"/>
                </a:solidFill>
              </a:rPr>
              <a:t> Newton School September 2025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26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alibri"/>
                <a:ea typeface="Calibri"/>
                <a:cs typeface="Calibri"/>
                <a:sym typeface="Calibri"/>
              </a:rPr>
              <a:t>Business Problem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023900"/>
            <a:ext cx="69558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Calibri"/>
              <a:buChar char="●"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Uber redesigned its Partner App to improve the onboarding experience for </a:t>
            </a:r>
            <a:b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drivers.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Calibri"/>
              <a:buChar char="●"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Business Questions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Calibri"/>
              <a:buChar char="•"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the redesigned app improve driver activation?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Calibri"/>
              <a:buChar char="•"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signup channels perform best?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Calibri"/>
              <a:buChar char="•"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factors influence successful onboarding?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Calibri"/>
              <a:buChar char="•"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 Uber launch the redesigned app for all users?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4" title="Screenshot 2026-09-03 at 9.04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975" y="2571750"/>
            <a:ext cx="3238999" cy="23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alibri"/>
                <a:ea typeface="Calibri"/>
                <a:cs typeface="Calibri"/>
                <a:sym typeface="Calibri"/>
              </a:rPr>
              <a:t>Data Overview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66325" y="1137325"/>
            <a:ext cx="5330700" cy="20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311700" y="109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{5CA81AA1-0F27-43A5-8994-2A5A6A49A21A}</a:tableStyleId>
              </a:tblPr>
              <a:tblGrid>
                <a:gridCol w="1770500"/>
                <a:gridCol w="2489800"/>
              </a:tblGrid>
              <a:tr h="3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Records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54,681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Variables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Experimental Groups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and Treatment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Ride Completion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1" name="Google Shape;71;p15" title="Screenshot 2026-09-03 at 9.13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425" y="1567478"/>
            <a:ext cx="4260299" cy="3156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Uber-Logo.w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256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Calibri"/>
                <a:ea typeface="Calibri"/>
                <a:cs typeface="Calibri"/>
                <a:sym typeface="Calibri"/>
              </a:rPr>
              <a:t>Signup Channel 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71375" y="1096100"/>
            <a:ext cx="3411900" cy="23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Paid: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~24,000 signups — highest volume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Referral: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~17,500 signups — second highest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Organic: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~13,500 signups — lowest volume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Paid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largest contributor to driver acquisition.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performs strongly, highlighting the potential of word-of-mouth recruitment.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6" title="Screenshot 2026-09-03 at 9.18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200" y="1096100"/>
            <a:ext cx="5092024" cy="335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Uber-Logo.w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alibri"/>
                <a:ea typeface="Calibri"/>
                <a:cs typeface="Calibri"/>
                <a:sym typeface="Calibri"/>
              </a:rPr>
              <a:t>Vehicle Makes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309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Vehicle Age: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11–13-year-old vehicles account for the largest share of the dataset.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Vintage Vehicles: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Very few older/vintage vehicles are present.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Toyota Leads: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Toyota is the most common make, with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3,200+ vehicles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Japanese Brands: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Honda (~1,850) and Nissan (~1,300) are also highly represented.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Competitive Tail: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Brands such as Hyundai and Jeep have smaller volumes, generally ranging from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200–700 vehicles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 title="Screenshot 2026-09-03 at 9.34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825" y="331850"/>
            <a:ext cx="4199350" cy="22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Screenshot 2026-09-03 at 9.37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6825" y="2782000"/>
            <a:ext cx="4199348" cy="21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Uber-Logo.wi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3688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alibri"/>
                <a:ea typeface="Calibri"/>
                <a:cs typeface="Calibri"/>
                <a:sym typeface="Calibri"/>
              </a:rPr>
              <a:t>Driver Activation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132675" y="1229325"/>
            <a:ext cx="4099200" cy="19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Conversion: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Referral signups have the highest activation rate at 20.0%.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 Conversion: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Organic signups achieve an activation rate of 9.0%.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Lowest Conversion: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Paid signups have the lowest activation rate at 6.2%.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 title="Screenshot 2026-09-03 at 9.39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975" y="1229325"/>
            <a:ext cx="4607325" cy="3067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 title="Uber-Logo.w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47859"/>
            <a:ext cx="8520600" cy="31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Findings from the Onboarding Experime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Activation: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Overall Driver Activation Rate was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11.22%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A/B Test Result: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Treatment (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11.27%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Control (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11.17%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showed no statistically significant difference (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= 0.70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Modeling: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Random Forest model achieved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93% accuracy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highlighting key behavioral and onboarding factors linked to activation.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 title="Uber-Logo.w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alibri"/>
                <a:ea typeface="Calibri"/>
                <a:cs typeface="Calibri"/>
                <a:sym typeface="Calibri"/>
              </a:rPr>
              <a:t>A/B Test and Channel Performance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262875" y="1112775"/>
            <a:ext cx="8520600" cy="21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Segmentation Opportunities</a:t>
            </a:r>
            <a:endParaRPr b="1" sz="1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Referral Channel: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Leads with the highest activation rate at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Paid &amp; Organic: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Show lower activation rates of approximately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6–9%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Prioritize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Referral programs and incentives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improve acquisition efficiency and activation.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 title="Uber-Logo.w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ts val="990"/>
              <a:buFont typeface="Trebuchet MS"/>
              <a:buNone/>
            </a:pPr>
            <a:r>
              <a:rPr b="1" lang="en-GB" sz="2540">
                <a:latin typeface="Calibri"/>
                <a:ea typeface="Calibri"/>
                <a:cs typeface="Calibri"/>
                <a:sym typeface="Calibri"/>
              </a:rPr>
              <a:t>The "Golden Window" of Driver Intent</a:t>
            </a:r>
            <a:endParaRPr b="1" sz="1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Behavioral Velocity as a Success Predictor</a:t>
            </a:r>
            <a:endParaRPr b="1" sz="1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Predictors: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Vehicle Age, BGC-to-Vehicle Upload time, and 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 Up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-to-BGC time.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Faster onboarding progress is associated with higher activation potential.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Intervention: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timely nudges to support drivers who slow down during the BGC stage.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1" title="Uber-Logo.w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Calibri"/>
                <a:ea typeface="Calibri"/>
                <a:cs typeface="Calibri"/>
                <a:sym typeface="Calibri"/>
              </a:rPr>
              <a:t>Regional Activation Variance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27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City-Level Performance Gaps</a:t>
            </a:r>
            <a:endParaRPr b="1" sz="1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Berton: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Highest activation rate at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12.1%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Wrouver: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Lower activation at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9.2%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indicating potential onboarding friction.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localized incentives and onboarding support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Wrouver to improve activation.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22" title="Uber-Logo.w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130909"/>
              <a:buFont typeface="Trebuchet MS"/>
              <a:buNone/>
            </a:pPr>
            <a:r>
              <a:rPr b="1" lang="en-GB" sz="2750">
                <a:latin typeface="Calibri"/>
                <a:ea typeface="Calibri"/>
                <a:cs typeface="Calibri"/>
                <a:sym typeface="Calibri"/>
              </a:rPr>
              <a:t>Strategic Roadmap: Phase 2</a:t>
            </a:r>
            <a:endParaRPr b="1" sz="27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22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Data-Driven Action Plan</a:t>
            </a:r>
            <a:endParaRPr b="1" sz="1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Segmented Rollout: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Prioritize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Referral drivers and newer-vehicle segments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further testing.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Improvement: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Introduce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OCR for vehicle-document uploads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reduce friction and manual effort.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Strategy: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Adopt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Switchback Testing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account for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city-level supply and demand effects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3" title="Uber-Logo.w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ts val="990"/>
              <a:buFont typeface="Trebuchet MS"/>
              <a:buNone/>
            </a:pPr>
            <a:r>
              <a:rPr b="1" lang="en-GB" sz="2540"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1" sz="254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 in High-Performing Channels: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Increase focus on channels with stronger activation rates.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 Up Background Checks: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Reduce delays in the early onboarding process.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Simplify Vehicle Onboarding: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Make document and vehicle uploads easier.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Lower-Performing Cities: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Introduce targeted onboarding support where activation is lower.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with Evidence: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Roll out the redesigned app only after confirming a statistically significant improvement.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Continuously: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Track activation and onboarding performance after launch.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ts val="3600"/>
              <a:buFont typeface="Trebuchet MS"/>
              <a:buNone/>
            </a:pPr>
            <a:r>
              <a:rPr b="1" lang="en-GB" sz="25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 Activation Rate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should remain the primary KPI for evaluating the redesigned Uber Partner App.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current A/B test did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show a statistically significant improvement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activation.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Therefore, a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rollout is not recommended yet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 refining onboarding, reducing friction, and testing targeted improvements.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Proceed with a 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phased rollout</a:t>
            </a: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once a statistically significant improvement is demonstrated without negatively affecting onboarding performance.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5" title="Uber-Logo.w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8300">
                <a:latin typeface="Calibri"/>
                <a:ea typeface="Calibri"/>
                <a:cs typeface="Calibri"/>
                <a:sym typeface="Calibri"/>
              </a:rPr>
              <a:t>      </a:t>
            </a:r>
            <a:endParaRPr b="1" sz="8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8300"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1" lang="en-GB" sz="83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 b="1" sz="8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6" title="Uber-Logo.w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700" y="4372900"/>
            <a:ext cx="1156173" cy="77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